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2" d="100"/>
          <a:sy n="92" d="100"/>
        </p:scale>
        <p:origin x="307" y="-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6390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6400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Household Services Web Application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692640" y="640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</a:rPr>
              <a:t>Use Case Diagrams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9944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9944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93776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1F1F"/>
                </a:solidFill>
              </a:rPr>
              <a:t>Module 1 Use Case Diagram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262872" y="813816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60" dirty="0"/>
          </a:p>
        </p:txBody>
      </p:sp>
      <p:sp>
        <p:nvSpPr>
          <p:cNvPr id="7" name="Shape 5"/>
          <p:cNvSpPr/>
          <p:nvPr/>
        </p:nvSpPr>
        <p:spPr>
          <a:xfrm>
            <a:off x="2468880" y="1188720"/>
            <a:ext cx="7269480" cy="5120640"/>
          </a:xfrm>
          <a:prstGeom prst="rect">
            <a:avLst/>
          </a:prstGeom>
          <a:solidFill>
            <a:srgbClr val="F5F7FA"/>
          </a:solidFill>
          <a:ln w="1524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615184" y="126187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8"/>
                </a:solidFill>
              </a:rPr>
              <a:t>Module 1: Customer Onboarding and Discovery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42416" y="1645920"/>
            <a:ext cx="164592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124712" y="1810512"/>
            <a:ext cx="0" cy="246888"/>
          </a:xfrm>
          <a:prstGeom prst="line">
            <a:avLst/>
          </a:prstGeom>
          <a:noFill/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978408" y="1911096"/>
            <a:ext cx="292608" cy="0"/>
          </a:xfrm>
          <a:prstGeom prst="line">
            <a:avLst/>
          </a:prstGeom>
          <a:noFill/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124712" y="2057400"/>
            <a:ext cx="0" cy="182880"/>
          </a:xfrm>
          <a:prstGeom prst="line">
            <a:avLst/>
          </a:prstGeom>
          <a:noFill/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124712" y="2057400"/>
            <a:ext cx="109728" cy="182880"/>
          </a:xfrm>
          <a:prstGeom prst="line">
            <a:avLst/>
          </a:prstGeom>
          <a:noFill/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0" y="18288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0" dirty="0">
                <a:solidFill>
                  <a:srgbClr val="000000"/>
                </a:solidFill>
              </a:rPr>
              <a:t>Household</a:t>
            </a:r>
            <a:endParaRPr lang="en-US" sz="1030" dirty="0"/>
          </a:p>
          <a:p>
            <a:pPr marL="0" indent="0" algn="r">
              <a:buNone/>
            </a:pPr>
            <a:r>
              <a:rPr lang="en-US" sz="1030" dirty="0">
                <a:solidFill>
                  <a:srgbClr val="000000"/>
                </a:solidFill>
              </a:rPr>
              <a:t>Customer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1042416" y="3337560"/>
            <a:ext cx="164592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124712" y="3502152"/>
            <a:ext cx="0" cy="246888"/>
          </a:xfrm>
          <a:prstGeom prst="line">
            <a:avLst/>
          </a:prstGeom>
          <a:noFill/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978408" y="3602736"/>
            <a:ext cx="292608" cy="0"/>
          </a:xfrm>
          <a:prstGeom prst="line">
            <a:avLst/>
          </a:prstGeom>
          <a:noFill/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1124712" y="3749040"/>
            <a:ext cx="0" cy="182880"/>
          </a:xfrm>
          <a:prstGeom prst="line">
            <a:avLst/>
          </a:prstGeom>
          <a:noFill/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124712" y="3749040"/>
            <a:ext cx="109728" cy="182880"/>
          </a:xfrm>
          <a:prstGeom prst="line">
            <a:avLst/>
          </a:prstGeom>
          <a:noFill/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0" y="35204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0" dirty="0">
                <a:solidFill>
                  <a:srgbClr val="000000"/>
                </a:solidFill>
              </a:rPr>
              <a:t>Service</a:t>
            </a:r>
            <a:endParaRPr lang="en-US" sz="1030" dirty="0"/>
          </a:p>
          <a:p>
            <a:pPr marL="0" indent="0" algn="r">
              <a:buNone/>
            </a:pPr>
            <a:r>
              <a:rPr lang="en-US" sz="1030" dirty="0">
                <a:solidFill>
                  <a:srgbClr val="000000"/>
                </a:solidFill>
              </a:rPr>
              <a:t>Professional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10369296" y="2157984"/>
            <a:ext cx="164592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0451592" y="2359152"/>
            <a:ext cx="0" cy="246888"/>
          </a:xfrm>
          <a:prstGeom prst="line">
            <a:avLst/>
          </a:prstGeom>
          <a:noFill/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10305288" y="2459736"/>
            <a:ext cx="292608" cy="0"/>
          </a:xfrm>
          <a:prstGeom prst="line">
            <a:avLst/>
          </a:prstGeom>
          <a:noFill/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0451592" y="2606040"/>
            <a:ext cx="0" cy="182880"/>
          </a:xfrm>
          <a:prstGeom prst="line">
            <a:avLst/>
          </a:prstGeom>
          <a:noFill/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0451592" y="2606040"/>
            <a:ext cx="109728" cy="182880"/>
          </a:xfrm>
          <a:prstGeom prst="line">
            <a:avLst/>
          </a:prstGeom>
          <a:noFill/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0707624" y="23774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30" dirty="0">
                <a:solidFill>
                  <a:srgbClr val="000000"/>
                </a:solidFill>
              </a:rPr>
              <a:t>Product</a:t>
            </a:r>
            <a:endParaRPr lang="en-US" sz="1030" dirty="0"/>
          </a:p>
          <a:p>
            <a:pPr marL="0" indent="0" algn="l">
              <a:buNone/>
            </a:pPr>
            <a:r>
              <a:rPr lang="en-US" sz="1030" dirty="0">
                <a:solidFill>
                  <a:srgbClr val="000000"/>
                </a:solidFill>
              </a:rPr>
              <a:t>Owner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2926080" y="1600200"/>
            <a:ext cx="2148840" cy="713232"/>
          </a:xfrm>
          <a:prstGeom prst="ellipse">
            <a:avLst/>
          </a:prstGeom>
          <a:solidFill>
            <a:srgbClr val="FFF2CC"/>
          </a:solidFill>
          <a:ln w="2159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971800" y="1655064"/>
            <a:ext cx="205740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</a:rPr>
              <a:t>01.01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</a:rPr>
              <a:t>Create/Edit Profile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926080" y="2560320"/>
            <a:ext cx="2148840" cy="713232"/>
          </a:xfrm>
          <a:prstGeom prst="ellipse">
            <a:avLst/>
          </a:prstGeom>
          <a:solidFill>
            <a:srgbClr val="FFFFFF"/>
          </a:solidFill>
          <a:ln w="1397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971800" y="2615184"/>
            <a:ext cx="205740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</a:rPr>
              <a:t>01.02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</a:rPr>
              <a:t>Edit Professional Bio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926080" y="3520440"/>
            <a:ext cx="2148840" cy="713232"/>
          </a:xfrm>
          <a:prstGeom prst="ellipse">
            <a:avLst/>
          </a:prstGeom>
          <a:solidFill>
            <a:srgbClr val="FFFFFF"/>
          </a:solidFill>
          <a:ln w="1397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971800" y="3575304"/>
            <a:ext cx="205740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</a:rPr>
              <a:t>01.03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</a:rPr>
              <a:t>Full Access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926080" y="4480560"/>
            <a:ext cx="2148840" cy="713232"/>
          </a:xfrm>
          <a:prstGeom prst="ellipse">
            <a:avLst/>
          </a:prstGeom>
          <a:solidFill>
            <a:srgbClr val="FFFFFF"/>
          </a:solidFill>
          <a:ln w="1397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971800" y="4535424"/>
            <a:ext cx="205740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</a:rPr>
              <a:t>01.04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</a:rPr>
              <a:t>View Security Logs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583680" y="1600200"/>
            <a:ext cx="2148840" cy="713232"/>
          </a:xfrm>
          <a:prstGeom prst="ellipse">
            <a:avLst/>
          </a:prstGeom>
          <a:solidFill>
            <a:srgbClr val="FFF2CC"/>
          </a:solidFill>
          <a:ln w="2159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629400" y="1655064"/>
            <a:ext cx="205740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</a:rPr>
              <a:t>02.01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</a:rPr>
              <a:t>Search/Filter Services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583680" y="2560320"/>
            <a:ext cx="2148840" cy="713232"/>
          </a:xfrm>
          <a:prstGeom prst="ellipse">
            <a:avLst/>
          </a:prstGeom>
          <a:solidFill>
            <a:srgbClr val="FFFFFF"/>
          </a:solidFill>
          <a:ln w="1397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629400" y="2615184"/>
            <a:ext cx="205740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</a:rPr>
              <a:t>02.02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</a:rPr>
              <a:t>Compare Service Packages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583680" y="3520440"/>
            <a:ext cx="2148840" cy="713232"/>
          </a:xfrm>
          <a:prstGeom prst="ellipse">
            <a:avLst/>
          </a:prstGeom>
          <a:solidFill>
            <a:srgbClr val="FFF2CC"/>
          </a:solidFill>
          <a:ln w="2159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629400" y="3575304"/>
            <a:ext cx="205740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</a:rPr>
              <a:t>02.03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</a:rPr>
              <a:t>View Provider Ratings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583680" y="4480560"/>
            <a:ext cx="2148840" cy="713232"/>
          </a:xfrm>
          <a:prstGeom prst="ellipse">
            <a:avLst/>
          </a:prstGeom>
          <a:solidFill>
            <a:srgbClr val="FFF2CC"/>
          </a:solidFill>
          <a:ln w="2159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629400" y="4535424"/>
            <a:ext cx="205740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</a:rPr>
              <a:t>02.04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</a:rPr>
              <a:t>Access Service Catalog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124712" y="1929384"/>
            <a:ext cx="1801368" cy="27432"/>
          </a:xfrm>
          <a:prstGeom prst="line">
            <a:avLst/>
          </a:prstGeom>
          <a:noFill/>
          <a:ln w="12700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1124712" y="1929384"/>
            <a:ext cx="5458968" cy="27432"/>
          </a:xfrm>
          <a:prstGeom prst="line">
            <a:avLst/>
          </a:prstGeom>
          <a:noFill/>
          <a:ln w="12700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1124712" y="1929384"/>
            <a:ext cx="5458968" cy="987552"/>
          </a:xfrm>
          <a:prstGeom prst="line">
            <a:avLst/>
          </a:prstGeom>
          <a:noFill/>
          <a:ln w="12700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1124712" y="1929384"/>
            <a:ext cx="5458968" cy="1947672"/>
          </a:xfrm>
          <a:prstGeom prst="line">
            <a:avLst/>
          </a:prstGeom>
          <a:noFill/>
          <a:ln w="12700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1124712" y="1929384"/>
            <a:ext cx="5458968" cy="2907792"/>
          </a:xfrm>
          <a:prstGeom prst="line">
            <a:avLst/>
          </a:prstGeom>
          <a:noFill/>
          <a:ln w="12700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1124712" y="3621024"/>
            <a:ext cx="1801368" cy="0"/>
          </a:xfrm>
          <a:prstGeom prst="line">
            <a:avLst/>
          </a:prstGeom>
          <a:noFill/>
          <a:ln w="12700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1124712" y="3621024"/>
            <a:ext cx="1801368" cy="0"/>
          </a:xfrm>
          <a:prstGeom prst="line">
            <a:avLst/>
          </a:prstGeom>
          <a:noFill/>
          <a:ln w="12700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1124712" y="3621024"/>
            <a:ext cx="1801368" cy="256032"/>
          </a:xfrm>
          <a:prstGeom prst="line">
            <a:avLst/>
          </a:prstGeom>
          <a:noFill/>
          <a:ln w="12700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1124712" y="3621024"/>
            <a:ext cx="1801368" cy="1216152"/>
          </a:xfrm>
          <a:prstGeom prst="line">
            <a:avLst/>
          </a:prstGeom>
          <a:noFill/>
          <a:ln w="12700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10451592" y="2478024"/>
            <a:ext cx="0" cy="0"/>
          </a:xfrm>
          <a:prstGeom prst="line">
            <a:avLst/>
          </a:prstGeom>
          <a:noFill/>
          <a:ln w="12700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10451592" y="2478024"/>
            <a:ext cx="0" cy="438912"/>
          </a:xfrm>
          <a:prstGeom prst="line">
            <a:avLst/>
          </a:prstGeom>
          <a:noFill/>
          <a:ln w="12700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10451592" y="2478024"/>
            <a:ext cx="0" cy="1399032"/>
          </a:xfrm>
          <a:prstGeom prst="line">
            <a:avLst/>
          </a:prstGeom>
          <a:noFill/>
          <a:ln w="12700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10451592" y="2478024"/>
            <a:ext cx="0" cy="2359152"/>
          </a:xfrm>
          <a:prstGeom prst="line">
            <a:avLst/>
          </a:prstGeom>
          <a:noFill/>
          <a:ln w="12700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10451592" y="2478024"/>
            <a:ext cx="0" cy="0"/>
          </a:xfrm>
          <a:prstGeom prst="line">
            <a:avLst/>
          </a:prstGeom>
          <a:noFill/>
          <a:ln w="12700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10451592" y="2478024"/>
            <a:ext cx="0" cy="438912"/>
          </a:xfrm>
          <a:prstGeom prst="line">
            <a:avLst/>
          </a:prstGeom>
          <a:noFill/>
          <a:ln w="12700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10451592" y="2478024"/>
            <a:ext cx="0" cy="1399032"/>
          </a:xfrm>
          <a:prstGeom prst="line">
            <a:avLst/>
          </a:prstGeom>
          <a:noFill/>
          <a:ln w="12700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10451592" y="2478024"/>
            <a:ext cx="0" cy="2359152"/>
          </a:xfrm>
          <a:prstGeom prst="line">
            <a:avLst/>
          </a:prstGeom>
          <a:noFill/>
          <a:ln w="12700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566928" y="6419088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20" dirty="0"/>
          </a:p>
        </p:txBody>
      </p:sp>
      <p:sp>
        <p:nvSpPr>
          <p:cNvPr id="6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9944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81ABA5A-8E69-524A-31DE-3E99CF1BB277}"/>
              </a:ext>
            </a:extLst>
          </p:cNvPr>
          <p:cNvCxnSpPr>
            <a:cxnSpLocks/>
          </p:cNvCxnSpPr>
          <p:nvPr/>
        </p:nvCxnSpPr>
        <p:spPr>
          <a:xfrm flipH="1">
            <a:off x="10351008" y="2615184"/>
            <a:ext cx="91440" cy="1737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Shape 11">
            <a:extLst>
              <a:ext uri="{FF2B5EF4-FFF2-40B4-BE49-F238E27FC236}">
                <a16:creationId xmlns:a16="http://schemas.microsoft.com/office/drawing/2014/main" id="{521961C1-53D6-997B-0437-AB2DCEF051B5}"/>
              </a:ext>
            </a:extLst>
          </p:cNvPr>
          <p:cNvSpPr/>
          <p:nvPr/>
        </p:nvSpPr>
        <p:spPr>
          <a:xfrm flipH="1">
            <a:off x="1007777" y="2075686"/>
            <a:ext cx="109728" cy="164593"/>
          </a:xfrm>
          <a:prstGeom prst="line">
            <a:avLst/>
          </a:prstGeom>
          <a:noFill/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11">
            <a:extLst>
              <a:ext uri="{FF2B5EF4-FFF2-40B4-BE49-F238E27FC236}">
                <a16:creationId xmlns:a16="http://schemas.microsoft.com/office/drawing/2014/main" id="{CAF3F209-206F-0F4D-B4F1-09BBC0603DDE}"/>
              </a:ext>
            </a:extLst>
          </p:cNvPr>
          <p:cNvSpPr/>
          <p:nvPr/>
        </p:nvSpPr>
        <p:spPr>
          <a:xfrm flipH="1">
            <a:off x="1022050" y="3758183"/>
            <a:ext cx="109728" cy="164593"/>
          </a:xfrm>
          <a:prstGeom prst="line">
            <a:avLst/>
          </a:prstGeom>
          <a:noFill/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Shape 11">
            <a:extLst>
              <a:ext uri="{FF2B5EF4-FFF2-40B4-BE49-F238E27FC236}">
                <a16:creationId xmlns:a16="http://schemas.microsoft.com/office/drawing/2014/main" id="{0E05F0C6-E6CE-EBFC-17E3-69BE47D39C6C}"/>
              </a:ext>
            </a:extLst>
          </p:cNvPr>
          <p:cNvSpPr/>
          <p:nvPr/>
        </p:nvSpPr>
        <p:spPr>
          <a:xfrm flipH="1">
            <a:off x="10328148" y="2652590"/>
            <a:ext cx="109728" cy="164593"/>
          </a:xfrm>
          <a:prstGeom prst="line">
            <a:avLst/>
          </a:prstGeom>
          <a:noFill/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93776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1F1F"/>
                </a:solidFill>
              </a:rPr>
              <a:t>Module 2 Use Case Diagram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20" dirty="0"/>
          </a:p>
        </p:txBody>
      </p:sp>
      <p:sp>
        <p:nvSpPr>
          <p:cNvPr id="5" name="Text 3"/>
          <p:cNvSpPr/>
          <p:nvPr/>
        </p:nvSpPr>
        <p:spPr>
          <a:xfrm>
            <a:off x="9262872" y="813816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60" dirty="0"/>
          </a:p>
        </p:txBody>
      </p:sp>
      <p:sp>
        <p:nvSpPr>
          <p:cNvPr id="7" name="Shape 5"/>
          <p:cNvSpPr/>
          <p:nvPr/>
        </p:nvSpPr>
        <p:spPr>
          <a:xfrm>
            <a:off x="2240280" y="1143000"/>
            <a:ext cx="7452360" cy="5212080"/>
          </a:xfrm>
          <a:prstGeom prst="rect">
            <a:avLst/>
          </a:prstGeom>
          <a:solidFill>
            <a:srgbClr val="F5F7FA"/>
          </a:solidFill>
          <a:ln w="1524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386584" y="121615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8"/>
                </a:solidFill>
              </a:rPr>
              <a:t>Module 2: Fulfilment and Payment Flow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88136" y="1508760"/>
            <a:ext cx="164592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170432" y="1673352"/>
            <a:ext cx="0" cy="246888"/>
          </a:xfrm>
          <a:prstGeom prst="line">
            <a:avLst/>
          </a:prstGeom>
          <a:noFill/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024128" y="1773936"/>
            <a:ext cx="292608" cy="0"/>
          </a:xfrm>
          <a:prstGeom prst="line">
            <a:avLst/>
          </a:prstGeom>
          <a:noFill/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170432" y="1920240"/>
            <a:ext cx="0" cy="182880"/>
          </a:xfrm>
          <a:prstGeom prst="line">
            <a:avLst/>
          </a:prstGeom>
          <a:noFill/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170432" y="1920240"/>
            <a:ext cx="109728" cy="182880"/>
          </a:xfrm>
          <a:prstGeom prst="line">
            <a:avLst/>
          </a:prstGeom>
          <a:noFill/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" y="16916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0" dirty="0">
                <a:solidFill>
                  <a:srgbClr val="000000"/>
                </a:solidFill>
              </a:rPr>
              <a:t>Household</a:t>
            </a:r>
            <a:endParaRPr lang="en-US" sz="1030" dirty="0"/>
          </a:p>
          <a:p>
            <a:pPr marL="0" indent="0" algn="r">
              <a:buNone/>
            </a:pPr>
            <a:r>
              <a:rPr lang="en-US" sz="1030" dirty="0">
                <a:solidFill>
                  <a:srgbClr val="000000"/>
                </a:solidFill>
              </a:rPr>
              <a:t>Customer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1088136" y="2788920"/>
            <a:ext cx="164592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170432" y="2953512"/>
            <a:ext cx="0" cy="246888"/>
          </a:xfrm>
          <a:prstGeom prst="line">
            <a:avLst/>
          </a:prstGeom>
          <a:noFill/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024128" y="3054096"/>
            <a:ext cx="292608" cy="0"/>
          </a:xfrm>
          <a:prstGeom prst="line">
            <a:avLst/>
          </a:prstGeom>
          <a:noFill/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1170432" y="3200400"/>
            <a:ext cx="0" cy="182880"/>
          </a:xfrm>
          <a:prstGeom prst="line">
            <a:avLst/>
          </a:prstGeom>
          <a:noFill/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170432" y="3200400"/>
            <a:ext cx="109728" cy="182880"/>
          </a:xfrm>
          <a:prstGeom prst="line">
            <a:avLst/>
          </a:prstGeom>
          <a:noFill/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720" y="29718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0" dirty="0">
                <a:solidFill>
                  <a:srgbClr val="000000"/>
                </a:solidFill>
              </a:rPr>
              <a:t>Service</a:t>
            </a:r>
            <a:endParaRPr lang="en-US" sz="1030" dirty="0"/>
          </a:p>
          <a:p>
            <a:pPr marL="0" indent="0" algn="r">
              <a:buNone/>
            </a:pPr>
            <a:r>
              <a:rPr lang="en-US" sz="1030" dirty="0">
                <a:solidFill>
                  <a:srgbClr val="000000"/>
                </a:solidFill>
              </a:rPr>
              <a:t>Professional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1088136" y="4389120"/>
            <a:ext cx="164592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170432" y="4553712"/>
            <a:ext cx="0" cy="246888"/>
          </a:xfrm>
          <a:prstGeom prst="line">
            <a:avLst/>
          </a:prstGeom>
          <a:noFill/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1024128" y="4654296"/>
            <a:ext cx="292608" cy="0"/>
          </a:xfrm>
          <a:prstGeom prst="line">
            <a:avLst/>
          </a:prstGeom>
          <a:noFill/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170432" y="4800600"/>
            <a:ext cx="0" cy="182880"/>
          </a:xfrm>
          <a:prstGeom prst="line">
            <a:avLst/>
          </a:prstGeom>
          <a:noFill/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170432" y="4800600"/>
            <a:ext cx="109728" cy="182880"/>
          </a:xfrm>
          <a:prstGeom prst="line">
            <a:avLst/>
          </a:prstGeom>
          <a:noFill/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720" y="45720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0" dirty="0">
                <a:solidFill>
                  <a:srgbClr val="000000"/>
                </a:solidFill>
              </a:rPr>
              <a:t>Operations</a:t>
            </a:r>
            <a:endParaRPr lang="en-US" sz="1030" dirty="0"/>
          </a:p>
          <a:p>
            <a:pPr marL="0" indent="0" algn="r">
              <a:buNone/>
            </a:pPr>
            <a:r>
              <a:rPr lang="en-US" sz="1030" dirty="0">
                <a:solidFill>
                  <a:srgbClr val="000000"/>
                </a:solidFill>
              </a:rPr>
              <a:t>Manager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10460736" y="1600200"/>
            <a:ext cx="164592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10543032" y="1764792"/>
            <a:ext cx="0" cy="246888"/>
          </a:xfrm>
          <a:prstGeom prst="line">
            <a:avLst/>
          </a:prstGeom>
          <a:noFill/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10396728" y="1865376"/>
            <a:ext cx="292608" cy="0"/>
          </a:xfrm>
          <a:prstGeom prst="line">
            <a:avLst/>
          </a:prstGeom>
          <a:noFill/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10543032" y="2011680"/>
            <a:ext cx="0" cy="182880"/>
          </a:xfrm>
          <a:prstGeom prst="line">
            <a:avLst/>
          </a:prstGeom>
          <a:noFill/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10543032" y="2011680"/>
            <a:ext cx="109728" cy="182880"/>
          </a:xfrm>
          <a:prstGeom prst="line">
            <a:avLst/>
          </a:prstGeom>
          <a:noFill/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0799064" y="1783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30" dirty="0">
                <a:solidFill>
                  <a:srgbClr val="000000"/>
                </a:solidFill>
              </a:rPr>
              <a:t>Product</a:t>
            </a:r>
            <a:endParaRPr lang="en-US" sz="1030" dirty="0"/>
          </a:p>
          <a:p>
            <a:pPr marL="0" indent="0" algn="l">
              <a:buNone/>
            </a:pPr>
            <a:r>
              <a:rPr lang="en-US" sz="1030" dirty="0">
                <a:solidFill>
                  <a:srgbClr val="000000"/>
                </a:solidFill>
              </a:rPr>
              <a:t>Owner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10460736" y="3154680"/>
            <a:ext cx="164592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10543032" y="3319272"/>
            <a:ext cx="0" cy="246888"/>
          </a:xfrm>
          <a:prstGeom prst="line">
            <a:avLst/>
          </a:prstGeom>
          <a:noFill/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10396728" y="3419856"/>
            <a:ext cx="292608" cy="0"/>
          </a:xfrm>
          <a:prstGeom prst="line">
            <a:avLst/>
          </a:prstGeom>
          <a:noFill/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10543032" y="3566160"/>
            <a:ext cx="0" cy="182880"/>
          </a:xfrm>
          <a:prstGeom prst="line">
            <a:avLst/>
          </a:prstGeom>
          <a:noFill/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10543032" y="3566160"/>
            <a:ext cx="109728" cy="182880"/>
          </a:xfrm>
          <a:prstGeom prst="line">
            <a:avLst/>
          </a:prstGeom>
          <a:noFill/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10799064" y="33375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30" dirty="0">
                <a:solidFill>
                  <a:srgbClr val="000000"/>
                </a:solidFill>
              </a:rPr>
              <a:t>Finance</a:t>
            </a:r>
            <a:endParaRPr lang="en-US" sz="1030" dirty="0"/>
          </a:p>
          <a:p>
            <a:pPr marL="0" indent="0" algn="l">
              <a:buNone/>
            </a:pPr>
            <a:r>
              <a:rPr lang="en-US" sz="1030" dirty="0">
                <a:solidFill>
                  <a:srgbClr val="000000"/>
                </a:solidFill>
              </a:rPr>
              <a:t>Team*</a:t>
            </a:r>
            <a:endParaRPr lang="en-US" sz="1030" dirty="0"/>
          </a:p>
        </p:txBody>
      </p:sp>
      <p:sp>
        <p:nvSpPr>
          <p:cNvPr id="39" name="Shape 37"/>
          <p:cNvSpPr/>
          <p:nvPr/>
        </p:nvSpPr>
        <p:spPr>
          <a:xfrm>
            <a:off x="10460736" y="4709160"/>
            <a:ext cx="164592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10543032" y="4873752"/>
            <a:ext cx="0" cy="246888"/>
          </a:xfrm>
          <a:prstGeom prst="line">
            <a:avLst/>
          </a:prstGeom>
          <a:noFill/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10396728" y="4974336"/>
            <a:ext cx="292608" cy="0"/>
          </a:xfrm>
          <a:prstGeom prst="line">
            <a:avLst/>
          </a:prstGeom>
          <a:noFill/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10543032" y="5120640"/>
            <a:ext cx="0" cy="182880"/>
          </a:xfrm>
          <a:prstGeom prst="line">
            <a:avLst/>
          </a:prstGeom>
          <a:noFill/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10543032" y="5120640"/>
            <a:ext cx="109728" cy="182880"/>
          </a:xfrm>
          <a:prstGeom prst="line">
            <a:avLst/>
          </a:prstGeom>
          <a:noFill/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10799064" y="48920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30" dirty="0">
                <a:solidFill>
                  <a:srgbClr val="000000"/>
                </a:solidFill>
              </a:rPr>
              <a:t>Quality</a:t>
            </a:r>
            <a:endParaRPr lang="en-US" sz="1030" dirty="0"/>
          </a:p>
          <a:p>
            <a:pPr marL="0" indent="0" algn="l">
              <a:buNone/>
            </a:pPr>
            <a:r>
              <a:rPr lang="en-US" sz="1030" dirty="0">
                <a:solidFill>
                  <a:srgbClr val="000000"/>
                </a:solidFill>
              </a:rPr>
              <a:t>Supervisor</a:t>
            </a:r>
            <a:endParaRPr lang="en-US" sz="1030" dirty="0"/>
          </a:p>
        </p:txBody>
      </p:sp>
      <p:sp>
        <p:nvSpPr>
          <p:cNvPr id="45" name="Shape 43"/>
          <p:cNvSpPr/>
          <p:nvPr/>
        </p:nvSpPr>
        <p:spPr>
          <a:xfrm>
            <a:off x="2651760" y="1463040"/>
            <a:ext cx="1920240" cy="658368"/>
          </a:xfrm>
          <a:prstGeom prst="ellipse">
            <a:avLst/>
          </a:prstGeom>
          <a:solidFill>
            <a:srgbClr val="FFF2CC"/>
          </a:solidFill>
          <a:ln w="2159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2697480" y="1517904"/>
            <a:ext cx="18288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000000"/>
                </a:solidFill>
              </a:rPr>
              <a:t>03.01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000000"/>
                </a:solidFill>
              </a:rPr>
              <a:t>View Task List</a:t>
            </a:r>
            <a:endParaRPr lang="en-US" sz="1020" dirty="0"/>
          </a:p>
        </p:txBody>
      </p:sp>
      <p:sp>
        <p:nvSpPr>
          <p:cNvPr id="47" name="Shape 45"/>
          <p:cNvSpPr/>
          <p:nvPr/>
        </p:nvSpPr>
        <p:spPr>
          <a:xfrm>
            <a:off x="4983480" y="1463040"/>
            <a:ext cx="1920240" cy="658368"/>
          </a:xfrm>
          <a:prstGeom prst="ellipse">
            <a:avLst/>
          </a:prstGeom>
          <a:solidFill>
            <a:srgbClr val="FFF2CC"/>
          </a:solidFill>
          <a:ln w="2159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5029200" y="1517904"/>
            <a:ext cx="18288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000000"/>
                </a:solidFill>
              </a:rPr>
              <a:t>03.02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000000"/>
                </a:solidFill>
              </a:rPr>
              <a:t>Update Task Status</a:t>
            </a:r>
            <a:endParaRPr lang="en-US" sz="1020" dirty="0"/>
          </a:p>
        </p:txBody>
      </p:sp>
      <p:sp>
        <p:nvSpPr>
          <p:cNvPr id="49" name="Shape 47"/>
          <p:cNvSpPr/>
          <p:nvPr/>
        </p:nvSpPr>
        <p:spPr>
          <a:xfrm>
            <a:off x="7315200" y="1463040"/>
            <a:ext cx="1920240" cy="65836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7360920" y="1517904"/>
            <a:ext cx="18288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000000"/>
                </a:solidFill>
              </a:rPr>
              <a:t>03.03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000000"/>
                </a:solidFill>
              </a:rPr>
              <a:t>Reassign Tasks</a:t>
            </a:r>
            <a:endParaRPr lang="en-US" sz="1020" dirty="0"/>
          </a:p>
        </p:txBody>
      </p:sp>
      <p:sp>
        <p:nvSpPr>
          <p:cNvPr id="51" name="Shape 49"/>
          <p:cNvSpPr/>
          <p:nvPr/>
        </p:nvSpPr>
        <p:spPr>
          <a:xfrm>
            <a:off x="2651760" y="2743200"/>
            <a:ext cx="1920240" cy="65836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2697480" y="2798064"/>
            <a:ext cx="18288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000000"/>
                </a:solidFill>
              </a:rPr>
              <a:t>03.04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000000"/>
                </a:solidFill>
              </a:rPr>
              <a:t>Report Job Completion</a:t>
            </a:r>
            <a:endParaRPr lang="en-US" sz="1020" dirty="0"/>
          </a:p>
        </p:txBody>
      </p:sp>
      <p:sp>
        <p:nvSpPr>
          <p:cNvPr id="53" name="Shape 51"/>
          <p:cNvSpPr/>
          <p:nvPr/>
        </p:nvSpPr>
        <p:spPr>
          <a:xfrm>
            <a:off x="4983480" y="2743200"/>
            <a:ext cx="1920240" cy="658368"/>
          </a:xfrm>
          <a:prstGeom prst="ellipse">
            <a:avLst/>
          </a:prstGeom>
          <a:solidFill>
            <a:srgbClr val="FFF2CC"/>
          </a:solidFill>
          <a:ln w="2159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5029200" y="2798064"/>
            <a:ext cx="18288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000000"/>
                </a:solidFill>
              </a:rPr>
              <a:t>04.01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000000"/>
                </a:solidFill>
              </a:rPr>
              <a:t>Make Payments</a:t>
            </a:r>
            <a:endParaRPr lang="en-US" sz="1020" dirty="0"/>
          </a:p>
        </p:txBody>
      </p:sp>
      <p:sp>
        <p:nvSpPr>
          <p:cNvPr id="55" name="Shape 53"/>
          <p:cNvSpPr/>
          <p:nvPr/>
        </p:nvSpPr>
        <p:spPr>
          <a:xfrm>
            <a:off x="7315200" y="2743200"/>
            <a:ext cx="1920240" cy="65836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7360920" y="2798064"/>
            <a:ext cx="18288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000000"/>
                </a:solidFill>
              </a:rPr>
              <a:t>04.02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000000"/>
                </a:solidFill>
              </a:rPr>
              <a:t>View Invoices</a:t>
            </a:r>
            <a:endParaRPr lang="en-US" sz="1020" dirty="0"/>
          </a:p>
        </p:txBody>
      </p:sp>
      <p:sp>
        <p:nvSpPr>
          <p:cNvPr id="57" name="Shape 55"/>
          <p:cNvSpPr/>
          <p:nvPr/>
        </p:nvSpPr>
        <p:spPr>
          <a:xfrm>
            <a:off x="2651760" y="4023360"/>
            <a:ext cx="1920240" cy="658368"/>
          </a:xfrm>
          <a:prstGeom prst="ellipse">
            <a:avLst/>
          </a:prstGeom>
          <a:solidFill>
            <a:srgbClr val="FFF2CC"/>
          </a:solidFill>
          <a:ln w="2159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2697480" y="4078224"/>
            <a:ext cx="18288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000000"/>
                </a:solidFill>
              </a:rPr>
              <a:t>04.03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000000"/>
                </a:solidFill>
              </a:rPr>
              <a:t>Rate/Review Services</a:t>
            </a:r>
            <a:endParaRPr lang="en-US" sz="1020" dirty="0"/>
          </a:p>
        </p:txBody>
      </p:sp>
      <p:sp>
        <p:nvSpPr>
          <p:cNvPr id="59" name="Shape 57"/>
          <p:cNvSpPr/>
          <p:nvPr/>
        </p:nvSpPr>
        <p:spPr>
          <a:xfrm>
            <a:off x="4983480" y="4023360"/>
            <a:ext cx="1920240" cy="65836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5029200" y="4078224"/>
            <a:ext cx="18288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000000"/>
                </a:solidFill>
              </a:rPr>
              <a:t>04.04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000000"/>
                </a:solidFill>
              </a:rPr>
              <a:t>Handle Refunds</a:t>
            </a:r>
            <a:endParaRPr lang="en-US" sz="1020" dirty="0"/>
          </a:p>
        </p:txBody>
      </p:sp>
      <p:sp>
        <p:nvSpPr>
          <p:cNvPr id="61" name="Shape 59"/>
          <p:cNvSpPr/>
          <p:nvPr/>
        </p:nvSpPr>
        <p:spPr>
          <a:xfrm>
            <a:off x="7315200" y="4023360"/>
            <a:ext cx="1920240" cy="65836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7360920" y="4078224"/>
            <a:ext cx="18288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000000"/>
                </a:solidFill>
              </a:rPr>
              <a:t>04.05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000000"/>
                </a:solidFill>
              </a:rPr>
              <a:t>Manage Payouts</a:t>
            </a:r>
            <a:endParaRPr lang="en-US" sz="1020" dirty="0"/>
          </a:p>
        </p:txBody>
      </p:sp>
      <p:sp>
        <p:nvSpPr>
          <p:cNvPr id="63" name="Shape 61"/>
          <p:cNvSpPr/>
          <p:nvPr/>
        </p:nvSpPr>
        <p:spPr>
          <a:xfrm>
            <a:off x="1170432" y="1792224"/>
            <a:ext cx="1481328" cy="0"/>
          </a:xfrm>
          <a:prstGeom prst="line">
            <a:avLst/>
          </a:prstGeom>
          <a:noFill/>
          <a:ln w="12700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1170432" y="1792224"/>
            <a:ext cx="3813048" cy="0"/>
          </a:xfrm>
          <a:prstGeom prst="line">
            <a:avLst/>
          </a:prstGeom>
          <a:noFill/>
          <a:ln w="12700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1170432" y="1792224"/>
            <a:ext cx="3813048" cy="1280160"/>
          </a:xfrm>
          <a:prstGeom prst="line">
            <a:avLst/>
          </a:prstGeom>
          <a:noFill/>
          <a:ln w="12700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1170432" y="1792224"/>
            <a:ext cx="1481328" cy="2560320"/>
          </a:xfrm>
          <a:prstGeom prst="line">
            <a:avLst/>
          </a:prstGeom>
          <a:noFill/>
          <a:ln w="12700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1170432" y="3072384"/>
            <a:ext cx="1481328" cy="0"/>
          </a:xfrm>
          <a:prstGeom prst="line">
            <a:avLst/>
          </a:prstGeom>
          <a:noFill/>
          <a:ln w="12700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1170432" y="3072384"/>
            <a:ext cx="3813048" cy="0"/>
          </a:xfrm>
          <a:prstGeom prst="line">
            <a:avLst/>
          </a:prstGeom>
          <a:noFill/>
          <a:ln w="12700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1170432" y="3072384"/>
            <a:ext cx="6144768" cy="0"/>
          </a:xfrm>
          <a:prstGeom prst="line">
            <a:avLst/>
          </a:prstGeom>
          <a:noFill/>
          <a:ln w="12700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1170432" y="3072384"/>
            <a:ext cx="1481328" cy="0"/>
          </a:xfrm>
          <a:prstGeom prst="line">
            <a:avLst/>
          </a:prstGeom>
          <a:noFill/>
          <a:ln w="12700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1170432" y="3072384"/>
            <a:ext cx="3813048" cy="0"/>
          </a:xfrm>
          <a:prstGeom prst="line">
            <a:avLst/>
          </a:prstGeom>
          <a:noFill/>
          <a:ln w="12700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1170432" y="3072384"/>
            <a:ext cx="6144768" cy="0"/>
          </a:xfrm>
          <a:prstGeom prst="line">
            <a:avLst/>
          </a:prstGeom>
          <a:noFill/>
          <a:ln w="12700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1170432" y="3072384"/>
            <a:ext cx="1481328" cy="1280160"/>
          </a:xfrm>
          <a:prstGeom prst="line">
            <a:avLst/>
          </a:prstGeom>
          <a:noFill/>
          <a:ln w="12700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Shape 72"/>
          <p:cNvSpPr/>
          <p:nvPr/>
        </p:nvSpPr>
        <p:spPr>
          <a:xfrm>
            <a:off x="1170432" y="4672584"/>
            <a:ext cx="6144768" cy="0"/>
          </a:xfrm>
          <a:prstGeom prst="line">
            <a:avLst/>
          </a:prstGeom>
          <a:noFill/>
          <a:ln w="12700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Shape 73"/>
          <p:cNvSpPr/>
          <p:nvPr/>
        </p:nvSpPr>
        <p:spPr>
          <a:xfrm>
            <a:off x="1170432" y="4672584"/>
            <a:ext cx="1481328" cy="0"/>
          </a:xfrm>
          <a:prstGeom prst="line">
            <a:avLst/>
          </a:prstGeom>
          <a:noFill/>
          <a:ln w="12700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1170432" y="4672584"/>
            <a:ext cx="1481328" cy="0"/>
          </a:xfrm>
          <a:prstGeom prst="line">
            <a:avLst/>
          </a:prstGeom>
          <a:noFill/>
          <a:ln w="12700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Shape 75"/>
          <p:cNvSpPr/>
          <p:nvPr/>
        </p:nvSpPr>
        <p:spPr>
          <a:xfrm>
            <a:off x="1170432" y="4672584"/>
            <a:ext cx="3813048" cy="0"/>
          </a:xfrm>
          <a:prstGeom prst="line">
            <a:avLst/>
          </a:prstGeom>
          <a:noFill/>
          <a:ln w="12700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1170432" y="4672584"/>
            <a:ext cx="6144768" cy="0"/>
          </a:xfrm>
          <a:prstGeom prst="line">
            <a:avLst/>
          </a:prstGeom>
          <a:noFill/>
          <a:ln w="12700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Shape 77"/>
          <p:cNvSpPr/>
          <p:nvPr/>
        </p:nvSpPr>
        <p:spPr>
          <a:xfrm>
            <a:off x="10543032" y="1883664"/>
            <a:ext cx="0" cy="0"/>
          </a:xfrm>
          <a:prstGeom prst="line">
            <a:avLst/>
          </a:prstGeom>
          <a:noFill/>
          <a:ln w="12700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Shape 78"/>
          <p:cNvSpPr/>
          <p:nvPr/>
        </p:nvSpPr>
        <p:spPr>
          <a:xfrm>
            <a:off x="10543032" y="1883664"/>
            <a:ext cx="0" cy="0"/>
          </a:xfrm>
          <a:prstGeom prst="line">
            <a:avLst/>
          </a:prstGeom>
          <a:noFill/>
          <a:ln w="12700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10543032" y="1883664"/>
            <a:ext cx="0" cy="0"/>
          </a:xfrm>
          <a:prstGeom prst="line">
            <a:avLst/>
          </a:prstGeom>
          <a:noFill/>
          <a:ln w="12700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Shape 80"/>
          <p:cNvSpPr/>
          <p:nvPr/>
        </p:nvSpPr>
        <p:spPr>
          <a:xfrm>
            <a:off x="10543032" y="1883664"/>
            <a:ext cx="0" cy="1188720"/>
          </a:xfrm>
          <a:prstGeom prst="line">
            <a:avLst/>
          </a:prstGeom>
          <a:noFill/>
          <a:ln w="12700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Shape 81"/>
          <p:cNvSpPr/>
          <p:nvPr/>
        </p:nvSpPr>
        <p:spPr>
          <a:xfrm>
            <a:off x="10543032" y="1883664"/>
            <a:ext cx="0" cy="1188720"/>
          </a:xfrm>
          <a:prstGeom prst="line">
            <a:avLst/>
          </a:prstGeom>
          <a:noFill/>
          <a:ln w="12700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10543032" y="1883664"/>
            <a:ext cx="0" cy="2468880"/>
          </a:xfrm>
          <a:prstGeom prst="line">
            <a:avLst/>
          </a:prstGeom>
          <a:noFill/>
          <a:ln w="12700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Shape 83"/>
          <p:cNvSpPr/>
          <p:nvPr/>
        </p:nvSpPr>
        <p:spPr>
          <a:xfrm>
            <a:off x="10543032" y="3438144"/>
            <a:ext cx="0" cy="0"/>
          </a:xfrm>
          <a:prstGeom prst="line">
            <a:avLst/>
          </a:prstGeom>
          <a:noFill/>
          <a:ln w="12700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Shape 84"/>
          <p:cNvSpPr/>
          <p:nvPr/>
        </p:nvSpPr>
        <p:spPr>
          <a:xfrm>
            <a:off x="10543032" y="3438144"/>
            <a:ext cx="0" cy="914400"/>
          </a:xfrm>
          <a:prstGeom prst="line">
            <a:avLst/>
          </a:prstGeom>
          <a:noFill/>
          <a:ln w="12700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Shape 85"/>
          <p:cNvSpPr/>
          <p:nvPr/>
        </p:nvSpPr>
        <p:spPr>
          <a:xfrm>
            <a:off x="10543032" y="3438144"/>
            <a:ext cx="0" cy="914400"/>
          </a:xfrm>
          <a:prstGeom prst="line">
            <a:avLst/>
          </a:prstGeom>
          <a:noFill/>
          <a:ln w="12700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6"/>
          <p:cNvSpPr/>
          <p:nvPr/>
        </p:nvSpPr>
        <p:spPr>
          <a:xfrm>
            <a:off x="10543032" y="3438144"/>
            <a:ext cx="0" cy="914400"/>
          </a:xfrm>
          <a:prstGeom prst="line">
            <a:avLst/>
          </a:prstGeom>
          <a:noFill/>
          <a:ln w="12700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Shape 87"/>
          <p:cNvSpPr/>
          <p:nvPr/>
        </p:nvSpPr>
        <p:spPr>
          <a:xfrm>
            <a:off x="10543032" y="4992624"/>
            <a:ext cx="0" cy="0"/>
          </a:xfrm>
          <a:prstGeom prst="line">
            <a:avLst/>
          </a:prstGeom>
          <a:noFill/>
          <a:ln w="12700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8412480" y="6400800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60" dirty="0"/>
          </a:p>
        </p:txBody>
      </p:sp>
      <p:sp>
        <p:nvSpPr>
          <p:cNvPr id="91" name="Text 89"/>
          <p:cNvSpPr/>
          <p:nvPr/>
        </p:nvSpPr>
        <p:spPr>
          <a:xfrm>
            <a:off x="548640" y="6400800"/>
            <a:ext cx="7498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9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9944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93" name="Shape 11">
            <a:extLst>
              <a:ext uri="{FF2B5EF4-FFF2-40B4-BE49-F238E27FC236}">
                <a16:creationId xmlns:a16="http://schemas.microsoft.com/office/drawing/2014/main" id="{B7AE384A-2943-52F3-4111-6DE6EC16B26D}"/>
              </a:ext>
            </a:extLst>
          </p:cNvPr>
          <p:cNvSpPr/>
          <p:nvPr/>
        </p:nvSpPr>
        <p:spPr>
          <a:xfrm flipH="1">
            <a:off x="1074420" y="1926888"/>
            <a:ext cx="109728" cy="164593"/>
          </a:xfrm>
          <a:prstGeom prst="line">
            <a:avLst/>
          </a:prstGeom>
          <a:noFill/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Shape 11">
            <a:extLst>
              <a:ext uri="{FF2B5EF4-FFF2-40B4-BE49-F238E27FC236}">
                <a16:creationId xmlns:a16="http://schemas.microsoft.com/office/drawing/2014/main" id="{5272AC67-F994-C612-83CD-65DABFB05553}"/>
              </a:ext>
            </a:extLst>
          </p:cNvPr>
          <p:cNvSpPr/>
          <p:nvPr/>
        </p:nvSpPr>
        <p:spPr>
          <a:xfrm flipH="1">
            <a:off x="1042416" y="3209543"/>
            <a:ext cx="109728" cy="164593"/>
          </a:xfrm>
          <a:prstGeom prst="line">
            <a:avLst/>
          </a:prstGeom>
          <a:noFill/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Shape 11">
            <a:extLst>
              <a:ext uri="{FF2B5EF4-FFF2-40B4-BE49-F238E27FC236}">
                <a16:creationId xmlns:a16="http://schemas.microsoft.com/office/drawing/2014/main" id="{AD31000F-3E9F-6CDC-2811-749378DE7A7F}"/>
              </a:ext>
            </a:extLst>
          </p:cNvPr>
          <p:cNvSpPr/>
          <p:nvPr/>
        </p:nvSpPr>
        <p:spPr>
          <a:xfrm flipH="1">
            <a:off x="1083976" y="4773167"/>
            <a:ext cx="109728" cy="164593"/>
          </a:xfrm>
          <a:prstGeom prst="line">
            <a:avLst/>
          </a:prstGeom>
          <a:noFill/>
          <a:ln w="1397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111</Words>
  <Application>Microsoft Office PowerPoint</Application>
  <PresentationFormat>Widescreen</PresentationFormat>
  <Paragraphs>59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Household Services Web Application - Use Case Diagrams</dc:title>
  <dc:subject>Household Services Web Application Use Case Diagrams</dc:subject>
  <dc:creator>OpenAI</dc:creator>
  <cp:lastModifiedBy>Monil Moradiya</cp:lastModifiedBy>
  <cp:revision>2</cp:revision>
  <dcterms:created xsi:type="dcterms:W3CDTF">2026-03-19T11:24:18Z</dcterms:created>
  <dcterms:modified xsi:type="dcterms:W3CDTF">2026-03-19T11:34:14Z</dcterms:modified>
</cp:coreProperties>
</file>