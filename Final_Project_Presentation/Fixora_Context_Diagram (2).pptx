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1408"/>
  </p:normalViewPr>
  <p:slideViewPr>
    <p:cSldViewPr snapToGrid="0" snapToObjects="1">
      <p:cViewPr>
        <p:scale>
          <a:sx n="100" d="100"/>
          <a:sy n="100" d="100"/>
        </p:scale>
        <p:origin x="1128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9122" y="59586"/>
            <a:ext cx="41147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/>
              <a:t>Fixora</a:t>
            </a:r>
            <a:r>
              <a:rPr sz="2800" b="1" dirty="0"/>
              <a:t> – Context Diagram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78480" y="2864332"/>
            <a:ext cx="301752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 err="1">
                <a:solidFill>
                  <a:schemeClr val="bg1"/>
                </a:solidFill>
              </a:rPr>
              <a:t>Fixora</a:t>
            </a:r>
            <a:r>
              <a:rPr sz="1600" b="1" dirty="0">
                <a:solidFill>
                  <a:schemeClr val="bg1"/>
                </a:solidFill>
              </a:rPr>
              <a:t> Platform
</a:t>
            </a:r>
            <a:r>
              <a:rPr sz="1600" b="1">
                <a:solidFill>
                  <a:schemeClr val="bg1"/>
                </a:solidFill>
              </a:rPr>
              <a:t>(Web)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1102840" y="1590458"/>
            <a:ext cx="274320" cy="274320"/>
          </a:xfrm>
          <a:prstGeom prst="ellipse">
            <a:avLst/>
          </a:prstGeom>
          <a:noFill/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251843" y="1887728"/>
            <a:ext cx="0" cy="5029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168" y="2139188"/>
            <a:ext cx="365760" cy="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 flipH="1">
            <a:off x="1055087" y="2368142"/>
            <a:ext cx="196756" cy="310684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71267" y="2404506"/>
            <a:ext cx="164592" cy="2743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6445" y="2774107"/>
            <a:ext cx="11464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Household</a:t>
            </a:r>
            <a:endParaRPr sz="1200" b="1" dirty="0"/>
          </a:p>
          <a:p>
            <a:r>
              <a:rPr lang="en-US" dirty="0"/>
              <a:t> </a:t>
            </a:r>
            <a:r>
              <a:rPr dirty="0"/>
              <a:t>Customer</a:t>
            </a:r>
          </a:p>
        </p:txBody>
      </p:sp>
      <p:sp>
        <p:nvSpPr>
          <p:cNvPr id="10" name="Oval 9"/>
          <p:cNvSpPr/>
          <p:nvPr/>
        </p:nvSpPr>
        <p:spPr>
          <a:xfrm flipH="1">
            <a:off x="1177999" y="3975600"/>
            <a:ext cx="312245" cy="308312"/>
          </a:xfrm>
          <a:prstGeom prst="ellipse">
            <a:avLst/>
          </a:prstGeom>
          <a:noFill/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334121" y="4301746"/>
            <a:ext cx="0" cy="5029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3000" y="4386751"/>
            <a:ext cx="365760" cy="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142360" y="4792717"/>
            <a:ext cx="164592" cy="2743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>
            <a:off x="1343632" y="4792717"/>
            <a:ext cx="164592" cy="274320"/>
          </a:xfrm>
          <a:prstGeom prst="line">
            <a:avLst/>
          </a:prstGeom>
          <a:ln w="1905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4840" y="5107739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Service</a:t>
            </a:r>
          </a:p>
          <a:p>
            <a:r>
              <a:t>Professional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2190" y="2052352"/>
            <a:ext cx="2834640" cy="7315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</a:rPr>
              <a:t>Payment Gateway
(Stripe)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0750" y="3680092"/>
            <a:ext cx="2926080" cy="7315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</a:rPr>
              <a:t>Email Provider
(Notifications)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9247" y="5448978"/>
            <a:ext cx="2926080" cy="7315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</a:rPr>
              <a:t>Background Verification
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3083" y="1016744"/>
            <a:ext cx="2926080" cy="7315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</a:rPr>
              <a:t>Cloud Hosting
(AWS)</a:t>
            </a:r>
          </a:p>
        </p:txBody>
      </p:sp>
      <p:cxnSp>
        <p:nvCxnSpPr>
          <p:cNvPr id="26" name="Connector 25"/>
          <p:cNvCxnSpPr>
            <a:cxnSpLocks/>
            <a:endCxn id="3" idx="1"/>
          </p:cNvCxnSpPr>
          <p:nvPr/>
        </p:nvCxnSpPr>
        <p:spPr>
          <a:xfrm>
            <a:off x="1508224" y="2347770"/>
            <a:ext cx="1570256" cy="1110922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06388" y="2309613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Search, book, pay, review</a:t>
            </a:r>
          </a:p>
        </p:txBody>
      </p:sp>
      <p:cxnSp>
        <p:nvCxnSpPr>
          <p:cNvPr id="28" name="Connector 27"/>
          <p:cNvCxnSpPr>
            <a:cxnSpLocks/>
            <a:endCxn id="3" idx="1"/>
          </p:cNvCxnSpPr>
          <p:nvPr/>
        </p:nvCxnSpPr>
        <p:spPr>
          <a:xfrm flipV="1">
            <a:off x="1615494" y="3458692"/>
            <a:ext cx="1462986" cy="1322928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647949" y="1785405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1. Charge/refund/payout requests</a:t>
            </a:r>
          </a:p>
        </p:txBody>
      </p:sp>
      <p:cxnSp>
        <p:nvCxnSpPr>
          <p:cNvPr id="34" name="Connector 33"/>
          <p:cNvCxnSpPr>
            <a:cxnSpLocks/>
            <a:stCxn id="22" idx="1"/>
          </p:cNvCxnSpPr>
          <p:nvPr/>
        </p:nvCxnSpPr>
        <p:spPr>
          <a:xfrm flipH="1">
            <a:off x="6062595" y="2418112"/>
            <a:ext cx="1839595" cy="552677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871203" y="1536026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1. Payment confirmation, </a:t>
            </a:r>
            <a:r>
              <a:rPr sz="1100" dirty="0" err="1"/>
              <a:t>txn</a:t>
            </a:r>
            <a:r>
              <a:rPr sz="1100" dirty="0"/>
              <a:t> IDs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0345" y="3358406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2. Send OTP/updates/receipts</a:t>
            </a:r>
          </a:p>
        </p:txBody>
      </p:sp>
      <p:cxnSp>
        <p:nvCxnSpPr>
          <p:cNvPr id="38" name="Connector 37"/>
          <p:cNvCxnSpPr>
            <a:cxnSpLocks/>
            <a:stCxn id="23" idx="1"/>
          </p:cNvCxnSpPr>
          <p:nvPr/>
        </p:nvCxnSpPr>
        <p:spPr>
          <a:xfrm flipH="1" flipV="1">
            <a:off x="6096000" y="3471980"/>
            <a:ext cx="1714750" cy="573872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32535" y="3091459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2. Delivery status, bounce/errors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6655" y="5030593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3. Verification request (KYC docs)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 flipH="1" flipV="1">
            <a:off x="6044457" y="3975600"/>
            <a:ext cx="923332" cy="140775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22069" y="472891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3. Verification result, risk flags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75858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4. Use cloud services (compute/storage/logs)</a:t>
            </a:r>
          </a:p>
        </p:txBody>
      </p:sp>
      <p:cxnSp>
        <p:nvCxnSpPr>
          <p:cNvPr id="46" name="Connector 45"/>
          <p:cNvCxnSpPr>
            <a:cxnSpLocks/>
          </p:cNvCxnSpPr>
          <p:nvPr/>
        </p:nvCxnSpPr>
        <p:spPr>
          <a:xfrm flipH="1">
            <a:off x="4888868" y="1727618"/>
            <a:ext cx="643210" cy="1216400"/>
          </a:xfrm>
          <a:prstGeom prst="line">
            <a:avLst/>
          </a:prstGeom>
          <a:ln w="2540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32078" y="174826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/>
              <a:t>4. Service responses, metrics/alerts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9005" y="266963"/>
            <a:ext cx="49739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/>
              <a:t>Fixora</a:t>
            </a:r>
            <a:r>
              <a:rPr sz="2800" b="1" dirty="0"/>
              <a:t> – System Interface Table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88840"/>
              </p:ext>
            </p:extLst>
          </p:nvPr>
        </p:nvGraphicFramePr>
        <p:xfrm>
          <a:off x="457200" y="1097280"/>
          <a:ext cx="11338560" cy="5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r>
                        <a:rPr sz="12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External System /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Data exchanged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Validation (before accept)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1</a:t>
                      </a:r>
                      <a:r>
                        <a:rPr lang="en-US" sz="900" dirty="0"/>
                        <a:t>a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Payment Gateway (Stripe)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Charge/refund/payout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Amount &gt; 0 and equals order total</a:t>
                      </a:r>
                    </a:p>
                    <a:p>
                      <a:r>
                        <a:rPr sz="900"/>
                        <a:t>• Order status allows action (e.g., BOOKED→PAID)</a:t>
                      </a:r>
                    </a:p>
                    <a:p>
                      <a:r>
                        <a:rPr sz="900"/>
                        <a:t>• Currency supported; idempotency key present</a:t>
                      </a:r>
                    </a:p>
                    <a:p>
                      <a:r>
                        <a:rPr sz="900"/>
                        <a:t>• Payment method token present; basic fraud checks 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1</a:t>
                      </a:r>
                      <a:r>
                        <a:rPr lang="en-US" sz="900" dirty="0"/>
                        <a:t>b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Payment Gateway (Stripe)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Payment confirmation, txn ID, failure 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Verify webhook signature/secret</a:t>
                      </a:r>
                    </a:p>
                    <a:p>
                      <a:r>
                        <a:rPr sz="900"/>
                        <a:t>• txn ID unique; not already processed</a:t>
                      </a:r>
                    </a:p>
                    <a:p>
                      <a:r>
                        <a:rPr sz="900"/>
                        <a:t>• Amount/currency match original request</a:t>
                      </a:r>
                    </a:p>
                    <a:p>
                      <a:r>
                        <a:rPr sz="900"/>
                        <a:t>• Status transition valid; write audit 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2</a:t>
                      </a:r>
                      <a:r>
                        <a:rPr lang="en-US" sz="900" dirty="0"/>
                        <a:t>a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Email  Provider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OTP, booking updates, reminders,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Phone/email format valid; user opted-in</a:t>
                      </a:r>
                    </a:p>
                    <a:p>
                      <a:r>
                        <a:rPr sz="900"/>
                        <a:t>• OTP TTL + resend limits enforced</a:t>
                      </a:r>
                    </a:p>
                    <a:p>
                      <a:r>
                        <a:rPr sz="900"/>
                        <a:t>• No duplicates (message ID/idempotency)</a:t>
                      </a:r>
                    </a:p>
                    <a:p>
                      <a:r>
                        <a:rPr sz="900"/>
                        <a:t>• Content template approved (no PII leakage)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2</a:t>
                      </a:r>
                      <a:r>
                        <a:rPr lang="en-US" sz="900" dirty="0"/>
                        <a:t>b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Email Provider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Delivery receipt, bounce/failure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Receipt signature verified (if supported)</a:t>
                      </a:r>
                    </a:p>
                    <a:p>
                      <a:r>
                        <a:rPr sz="900"/>
                        <a:t>• Message ID exists and belongs to Fixora</a:t>
                      </a:r>
                    </a:p>
                    <a:p>
                      <a:r>
                        <a:rPr sz="900"/>
                        <a:t>• Failure codes mapped to retry rules</a:t>
                      </a:r>
                    </a:p>
                    <a:p>
                      <a:r>
                        <a:rPr sz="900"/>
                        <a:t>• Store delivery timestamp for audit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3</a:t>
                      </a:r>
                      <a:r>
                        <a:rPr lang="en-US" sz="900" dirty="0"/>
                        <a:t>a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Background Verification Service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Verification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KYC/background-check request (name, DOB, ID docs)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Consent captured; required fields present</a:t>
                      </a:r>
                    </a:p>
                    <a:p>
                      <a:r>
                        <a:rPr sz="900"/>
                        <a:t>• Document file types allowed + readable</a:t>
                      </a:r>
                    </a:p>
                    <a:p>
                      <a:r>
                        <a:rPr sz="900"/>
                        <a:t>• Request ID unique; provider not already verified</a:t>
                      </a:r>
                    </a:p>
                    <a:p>
                      <a:r>
                        <a:rPr sz="900"/>
                        <a:t>• Encrypt/secure transmission (TLS)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3</a:t>
                      </a:r>
                      <a:r>
                        <a:rPr lang="en-US" sz="900" dirty="0"/>
                        <a:t>b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Background Verification Service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Verification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Verification result, status, risk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Result signed/verified</a:t>
                      </a:r>
                    </a:p>
                    <a:p>
                      <a:r>
                        <a:rPr sz="900"/>
                        <a:t>• Request ID matches pending verification</a:t>
                      </a:r>
                    </a:p>
                    <a:p>
                      <a:r>
                        <a:rPr sz="900"/>
                        <a:t>• Status change valid; store audit trail</a:t>
                      </a:r>
                    </a:p>
                    <a:p>
                      <a:r>
                        <a:rPr sz="900"/>
                        <a:t>• Red-flag cases routed to manual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4</a:t>
                      </a:r>
                      <a:r>
                        <a:rPr lang="en-US" sz="900" dirty="0"/>
                        <a:t>a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Hosting (AWS)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API calls to cloud services (storage, queues, logs, monitoring)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• IAM role/keys valid; least-privilege permissions</a:t>
                      </a:r>
                    </a:p>
                    <a:p>
                      <a:r>
                        <a:rPr sz="900"/>
                        <a:t>• Requests signed/authorized; rate limits respected</a:t>
                      </a:r>
                    </a:p>
                    <a:p>
                      <a:r>
                        <a:rPr sz="900"/>
                        <a:t>• Region/service within allowed architecture</a:t>
                      </a:r>
                    </a:p>
                    <a:p>
                      <a:r>
                        <a:rPr sz="900"/>
                        <a:t>• Sensitive data encrypted at rest/in transit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r>
                        <a:rPr sz="900" dirty="0"/>
                        <a:t>4</a:t>
                      </a:r>
                      <a:r>
                        <a:rPr lang="en-US" sz="900" dirty="0"/>
                        <a:t>b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Hosting (AWS)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Fixora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Service responses, event notifications, metrics/alerts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• Response status OK; retry/backoff on transient errors</a:t>
                      </a:r>
                    </a:p>
                    <a:p>
                      <a:r>
                        <a:rPr sz="900" dirty="0"/>
                        <a:t>• Event source verified (topic/queue ARN)</a:t>
                      </a:r>
                    </a:p>
                    <a:p>
                      <a:r>
                        <a:rPr sz="900" dirty="0"/>
                        <a:t>• Metrics timestamps valid (no stale/duplicate)</a:t>
                      </a:r>
                    </a:p>
                    <a:p>
                      <a:r>
                        <a:rPr sz="900" dirty="0"/>
                        <a:t>• Alert thresholds mapped to escalation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5058</TotalTime>
  <Words>532</Words>
  <Application>Microsoft Macintosh PowerPoint</Application>
  <PresentationFormat>Widescreen</PresentationFormat>
  <Paragraphs>98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Ramagalla, Anish</cp:lastModifiedBy>
  <cp:revision>6</cp:revision>
  <dcterms:created xsi:type="dcterms:W3CDTF">2013-01-27T09:14:16Z</dcterms:created>
  <dcterms:modified xsi:type="dcterms:W3CDTF">2026-03-03T04:21:05Z</dcterms:modified>
  <cp:category/>
</cp:coreProperties>
</file>